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 you for being here. My name is Eren Demir. Today I am</a:t>
            </a:r>
          </a:p>
          <a:p>
            <a:r>
              <a:t>defending my bachelor thesis: a holistic evaluation of 2D mobile pose estimation</a:t>
            </a:r>
          </a:p>
          <a:p>
            <a:r>
              <a:t>models for home-based rehabilitation.</a:t>
            </a:r>
          </a:p>
          <a:p/>
          <a:p>
            <a:r>
              <a:t>**Physiotherapy works when exercises are done correctly and regularly — but most of</a:t>
            </a:r>
          </a:p>
          <a:p>
            <a:r>
              <a:t>it happens at home, unsupervised, and adherence is poor. A smartphone camera with a</a:t>
            </a:r>
          </a:p>
          <a:p>
            <a:r>
              <a:t>pose estimation model could close that gap. So my thesis asks: which of today's</a:t>
            </a:r>
          </a:p>
          <a:p>
            <a:r>
              <a:t>mobile models can you actually trust in a living room? And the answer turned out to</a:t>
            </a:r>
          </a:p>
          <a:p>
            <a:r>
              <a:t>be more interesting than a simple ranking.**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matter? Studies show that many patients skip their home exercises. And</a:t>
            </a:r>
          </a:p>
          <a:p>
            <a:r>
              <a:t>when they skip them, recovery takes longer and costs go up.</a:t>
            </a:r>
          </a:p>
          <a:p/>
          <a:p>
            <a:r>
              <a:t>Pose estimation offers a practical solution. A single RGB camera — the one in every</a:t>
            </a:r>
          </a:p>
          <a:p>
            <a:r>
              <a:t>smartphone — can estimate where the body joints are. No markers, no suits, no lab</a:t>
            </a:r>
          </a:p>
          <a:p>
            <a:r>
              <a:t>needed. [aufs Diagramm zeigen] The patient exercises at home. The camera and the</a:t>
            </a:r>
          </a:p>
          <a:p>
            <a:r>
              <a:t>model watch. The system gives feedback and tracks progress.</a:t>
            </a:r>
          </a:p>
          <a:p/>
          <a:p>
            <a:r>
              <a:t>The open question is the model itself: **which mobile pose estimator can actually</a:t>
            </a:r>
          </a:p>
          <a:p>
            <a:r>
              <a:t>carry such a system?** That is the question of this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already benchmarks for pose estimation. COCO and MPII rank models every</a:t>
            </a:r>
          </a:p>
          <a:p>
            <a:r>
              <a:t>year. However, those benchmarks answer a different question. Home rehabilitation has</a:t>
            </a:r>
          </a:p>
          <a:p>
            <a:r>
              <a:t>four conditions they do not cover.</a:t>
            </a:r>
          </a:p>
          <a:p/>
          <a:p>
            <a:r>
              <a:t>[Boxen nacheinander] **One:** camera position. Patients rarely position themselves</a:t>
            </a:r>
          </a:p>
          <a:p>
            <a:r>
              <a:t>frontally — you get oblique and side views, and self-occlusion. **Two:** other</a:t>
            </a:r>
          </a:p>
          <a:p>
            <a:r>
              <a:t>people. A family member or a therapist walks into the frame — and the system must</a:t>
            </a:r>
          </a:p>
          <a:p>
            <a:r>
              <a:t>keep tracking the right person. **Three:** stability over time. Feedback runs on</a:t>
            </a:r>
          </a:p>
          <a:p>
            <a:r>
              <a:t>video. If the skeleton jitters from frame to frame, the feedback feels broken.</a:t>
            </a:r>
          </a:p>
          <a:p>
            <a:r>
              <a:t>**Four:** hardware. There is no GPU in a living room. The model must run on a normal</a:t>
            </a:r>
          </a:p>
          <a:p>
            <a:r>
              <a:t>CPU.</a:t>
            </a:r>
          </a:p>
          <a:p/>
          <a:p>
            <a:r>
              <a:t>**These four constraints define the evaluation — each one becomes a measured</a:t>
            </a:r>
          </a:p>
          <a:p>
            <a:r>
              <a:t>dimension. Together with accuracy and completeness, that gives six dimensions, and I</a:t>
            </a:r>
          </a:p>
          <a:p>
            <a:r>
              <a:t>will go through them one by one.**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Formally, this gives five research questions. You can read them simply as: **how</a:t>
            </a:r>
          </a:p>
          <a:p>
            <a:r>
              <a:t>good, how stable, how robust, does it transfer — and what should we deploy.** I will</a:t>
            </a:r>
          </a:p>
          <a:p>
            <a:r>
              <a:t>answer all five by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candidates. Each one represents one of the three main ways to</a:t>
            </a:r>
          </a:p>
          <a:p>
            <a:r>
              <a:t>build a pose estimator.</a:t>
            </a:r>
          </a:p>
          <a:p/>
          <a:p>
            <a:r>
              <a:t>[links] **MediaPipe is top-down.** Two stages: first a detector finds the person.</a:t>
            </a:r>
          </a:p>
          <a:p>
            <a:r>
              <a:t>Then the image is cropped, and a second network estimates the pose on that crop.</a:t>
            </a:r>
          </a:p>
          <a:p>
            <a:r>
              <a:t>Because it sees the person in full resolution, it is very precise per person. The</a:t>
            </a:r>
          </a:p>
          <a:p>
            <a:r>
              <a:t>price: the cost grows with every person in the image. And everything depends on the</a:t>
            </a:r>
          </a:p>
          <a:p>
            <a:r>
              <a:t>detector — no detection means no pose. It also gives 33 landmarks, more than the</a:t>
            </a:r>
          </a:p>
          <a:p>
            <a:r>
              <a:t>others.</a:t>
            </a:r>
          </a:p>
          <a:p/>
          <a:p>
            <a:r>
              <a:t>[Mitte] **MoveNet is bottom-up.** One single pass over the whole image. It predicts</a:t>
            </a:r>
          </a:p>
          <a:p>
            <a:r>
              <a:t>person centers as a heatmap, and gets the keypoints from those centers. No cropping,</a:t>
            </a:r>
          </a:p>
          <a:p>
            <a:r>
              <a:t>no second network. The cost stays the same no matter how many people are in the</a:t>
            </a:r>
          </a:p>
          <a:p>
            <a:r>
              <a:t>image. The weak spot: grouping — deciding which keypoints belong to which person.</a:t>
            </a:r>
          </a:p>
          <a:p>
            <a:r>
              <a:t>Internally, MoveNet refines each keypoint with full-image heatmaps, weighted towards</a:t>
            </a:r>
          </a:p>
          <a:p>
            <a:r>
              <a:t>the person center — a detail that becomes relevant in the multi-person analysis</a:t>
            </a:r>
          </a:p>
          <a:p>
            <a:r>
              <a:t>later.</a:t>
            </a:r>
          </a:p>
          <a:p/>
          <a:p>
            <a:r>
              <a:t>[rechts] **YOLOv8-Pose is one-stage.** It is an object detector with an extra pose</a:t>
            </a:r>
          </a:p>
          <a:p>
            <a:r>
              <a:t>head. Every detection comes out with its box and all 17 keypoints — in one shot. Fast</a:t>
            </a:r>
          </a:p>
          <a:p>
            <a:r>
              <a:t>and simple. But it has no high-resolution zoom on the person, like top-down has.</a:t>
            </a:r>
          </a:p>
          <a:p/>
          <a:p>
            <a:r>
              <a:t>I selected by three criteria: real-time on CPU, a mature ecosystem, and this paradigm</a:t>
            </a:r>
          </a:p>
          <a:p>
            <a:r>
              <a:t>coverage — because it lets me connect behavior to architecture later. Six family</a:t>
            </a:r>
          </a:p>
          <a:p>
            <a:r>
              <a:t>variants join the comparison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testbed is REHAB24-6 — a public benchmark of real physiotherapy exercises. Ten</a:t>
            </a:r>
          </a:p>
          <a:p>
            <a:r>
              <a:t>healthy adults. Six exercises, guided by a physiotherapist. There are two</a:t>
            </a:r>
          </a:p>
          <a:p>
            <a:r>
              <a:t>synchronized cameras — one roughly frontal, one roughly lateral.</a:t>
            </a:r>
          </a:p>
          <a:p/>
          <a:p>
            <a:r>
              <a:t>The key feature is the ground truth. [aufs Bild] The subjects wore motion-capture</a:t>
            </a:r>
          </a:p>
          <a:p>
            <a:r>
              <a:t>suits with 41 markers. From those, the system derives a skeleton and projects it into</a:t>
            </a:r>
          </a:p>
          <a:p>
            <a:r>
              <a:t>the camera image. So for every frame, I know where every joint **really** was. The</a:t>
            </a:r>
          </a:p>
          <a:p>
            <a:r>
              <a:t>green dots are the 12 joints all models share — shoulders, elbows, wrists, hips,</a:t>
            </a:r>
          </a:p>
          <a:p>
            <a:r>
              <a:t>knees, ankles. Those 12 are what I evaluate.</a:t>
            </a:r>
          </a:p>
          <a:p/>
          <a:p>
            <a:r>
              <a:t>Of course, this ground truth has its own error sources — marker placement, the</a:t>
            </a:r>
          </a:p>
          <a:p>
            <a:r>
              <a:t>skeleton model, the projection into the image. That is exactly why I use it as a fair</a:t>
            </a:r>
          </a:p>
          <a:p>
            <a:r>
              <a:t>comparison basis: all models are measured against the same reference.</a:t>
            </a:r>
          </a:p>
          <a:p/>
          <a:p>
            <a:r>
              <a:t>[auf die Person im Hintergrund zeigen] And note the second person in the background —</a:t>
            </a:r>
          </a:p>
          <a:p>
            <a:r>
              <a:t>this becomes relevant later.</a:t>
            </a:r>
          </a:p>
          <a:p/>
          <a:p>
            <a:r>
              <a:t>One important qualification: this is a **proxy benchmark** with healthy volunteers,</a:t>
            </a:r>
          </a:p>
          <a:p>
            <a:r>
              <a:t>not a clinical cohort. So it is a rehabilitation-oriented testbed — not clinical</a:t>
            </a:r>
          </a:p>
          <a:p>
            <a:r>
              <a:t>validation. I will come back to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compare fairly, every model runs through one fixed protocol. [Pipeline entlang]</a:t>
            </a:r>
          </a:p>
          <a:p>
            <a:r>
              <a:t>We take every third frame — 10 frames per second. Every model sees every frame</a:t>
            </a:r>
          </a:p>
          <a:p>
            <a:r>
              <a:t>**independently**. No tracking, no smoothing, no memory. If a model detects more than</a:t>
            </a:r>
          </a:p>
          <a:p>
            <a:r>
              <a:t>one person, the pipeline selects the largest one — the most prominent person, like a</a:t>
            </a:r>
          </a:p>
          <a:p>
            <a:r>
              <a:t>real app would. All predictions are mapped to the same 12 joints. Joints with</a:t>
            </a:r>
          </a:p>
          <a:p>
            <a:r>
              <a:t>confidence below 0.5 are dropped — so unreliable guesses do not distort the accuracy</a:t>
            </a:r>
          </a:p>
          <a:p>
            <a:r>
              <a:t>numbers. Then we compute the metrics.</a:t>
            </a:r>
          </a:p>
          <a:p/>
          <a:p>
            <a:r>
              <a:t>The main metric is **NMPJPE** — normalized mean per joint position error. In plain</a:t>
            </a:r>
          </a:p>
          <a:p>
            <a:r>
              <a:t>terms: the average distance between predicted and true joint positions, divided by</a:t>
            </a:r>
          </a:p>
          <a:p>
            <a:r>
              <a:t>the person's torso length. So it is an error in percent of body size — comparable</a:t>
            </a:r>
          </a:p>
          <a:p>
            <a:r>
              <a:t>across people, distances, and resolutions.</a:t>
            </a:r>
          </a:p>
          <a:p/>
          <a:p>
            <a:r>
              <a:t>**The evaluation is frame-independent because I evaluate models, not pipelines.**</a:t>
            </a:r>
          </a:p>
          <a:p>
            <a:r>
              <a:t>Smoothing and tracking — such as a Kalman filter — can be added on top of any model,</a:t>
            </a:r>
          </a:p>
          <a:p>
            <a:r>
              <a:t>but they would mix engineering into the model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on the statistics — each choice here solves a specific problem. [Zeilen</a:t>
            </a:r>
          </a:p>
          <a:p>
            <a:r>
              <a:t>entlang] We have 367,000 frame observations — but frames of the same person are not</a:t>
            </a:r>
          </a:p>
          <a:p>
            <a:r>
              <a:t>independent. So the analysis aggregates to **ten subject clusters**: the median error</a:t>
            </a:r>
          </a:p>
          <a:p>
            <a:r>
              <a:t>per sequence, averaged per person.</a:t>
            </a:r>
          </a:p>
          <a:p/>
          <a:p>
            <a:r>
              <a:t>On these cluster differences I run **exact paired permutation tests** — which is the</a:t>
            </a:r>
          </a:p>
          <a:p>
            <a:r>
              <a:t>natural choice here: with only ten data points I cannot rely on distribution</a:t>
            </a:r>
          </a:p>
          <a:p>
            <a:r>
              <a:t>assumptions, and a permutation test needs none. At this sample size the test is even</a:t>
            </a:r>
          </a:p>
          <a:p>
            <a:r>
              <a:t>exact — all 1024 combinations can be checked directly.</a:t>
            </a:r>
          </a:p>
          <a:p/>
          <a:p>
            <a:r>
              <a:t>Because I compare three model pairs, **Holm correction** keeps the false-alarm rate</a:t>
            </a:r>
          </a:p>
          <a:p>
            <a:r>
              <a:t>under control. And **bootstrap confidence intervals** add the second half of the</a:t>
            </a:r>
          </a:p>
          <a:p>
            <a:r>
              <a:t>answer: not just whether a difference is real, but how large it is. As a sensitivity</a:t>
            </a:r>
          </a:p>
          <a:p>
            <a:r>
              <a:t>check, I repeated the analysis on the video level — the ranking stays the same.</a:t>
            </a:r>
          </a:p>
          <a:p/>
          <a:p>
            <a:r>
              <a:t>**That completes the setup: six dimensions, nine model configurations, one fixed</a:t>
            </a:r>
          </a:p>
          <a:p>
            <a:r>
              <a:t>protocol. Now to the results.**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one: accuracy. [Boxplot] Every dot here is one person — their average error</a:t>
            </a:r>
          </a:p>
          <a:p>
            <a:r>
              <a:t>over all their videos. MoveNet: 10.5 percent. MediaPipe: 12.5. YOLOv8: 12.8.</a:t>
            </a:r>
          </a:p>
          <a:p/>
          <a:p>
            <a:r>
              <a:t>And this is consistent across subjects: MoveNet's whole distribution sits below the</a:t>
            </a:r>
          </a:p>
          <a:p>
            <a:r>
              <a:t>other two. In fact, **MoveNet wins in every single cluster, against both</a:t>
            </a:r>
          </a:p>
          <a:p>
            <a:r>
              <a:t>competitors** — the strongest outcome the exact test can produce. All differences</a:t>
            </a:r>
          </a:p>
          <a:p>
            <a:r>
              <a:t>survive Holm correction, and MoveNet is first on all six exercises.</a:t>
            </a:r>
          </a:p>
          <a:p/>
          <a:p>
            <a:r>
              <a:t>So on accuracy: a clear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level deeper: where do these errors actually sit? [Tabelle] Not uniformly.</a:t>
            </a:r>
          </a:p>
          <a:p>
            <a:r>
              <a:t>MediaPipe is actually the **best** model on the shoulders. MoveNet leads everywhere</a:t>
            </a:r>
          </a:p>
          <a:p>
            <a:r>
              <a:t>else. But look at the hips: MediaPipe is at seventeen percent — against eleven for</a:t>
            </a:r>
          </a:p>
          <a:p>
            <a:r>
              <a:t>MoveNet. That is a concentrated problem, not general weakness.</a:t>
            </a:r>
          </a:p>
          <a:p/>
          <a:p>
            <a:r>
              <a:t>And there is a plausible reason: every model family defines the hip slightly</a:t>
            </a:r>
          </a:p>
          <a:p>
            <a:r>
              <a:t>differently. MoveNet and YOLO are trained on COCO annotations. MediaPipe on Google's</a:t>
            </a:r>
          </a:p>
          <a:p>
            <a:r>
              <a:t>own landmark scheme. And my ground truth is the motion-capture joint center — a third</a:t>
            </a:r>
          </a:p>
          <a:p>
            <a:r>
              <a:t>convention. If I remove the hips, MediaPipe's gap to MoveNet shrinks by about forty</a:t>
            </a:r>
          </a:p>
          <a:p>
            <a:r>
              <a:t>percent. So part of this is likely a **definition mismatch, not a perception</a:t>
            </a:r>
          </a:p>
          <a:p>
            <a:r>
              <a:t>failure** — the evidence is indirect, and the thesis marks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two: what happens when the patient turns sideways? All models get worse —</a:t>
            </a:r>
          </a:p>
          <a:p>
            <a:r>
              <a:t>side views mean self-occlusion. But not equally: MoveNet degrades by 18 percent,</a:t>
            </a:r>
          </a:p>
          <a:p>
            <a:r>
              <a:t>MediaPipe by 28, YOLOv8 by 32. One note on the method: the body angles come from the</a:t>
            </a:r>
          </a:p>
          <a:p>
            <a:r>
              <a:t>3D motion capture, calibrated to each camera — not from the predictions, so model</a:t>
            </a:r>
          </a:p>
          <a:p>
            <a:r>
              <a:t>errors cannot distort this analysis. Again: MoveNet.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three: temporal stability. Here I measure how much the predictions move</a:t>
            </a:r>
          </a:p>
          <a:p>
            <a:r>
              <a:t>between two consecutive frames — the **normalized frame-to-frame displacement**, in</a:t>
            </a:r>
          </a:p>
          <a:p>
            <a:r>
              <a:t>percent of torso length. This runs on raw outputs, without any smoothing. And since</a:t>
            </a:r>
          </a:p>
          <a:p>
            <a:r>
              <a:t>the true motion is the same for every model on the same frames, whatever differs</a:t>
            </a:r>
          </a:p>
          <a:p>
            <a:r>
              <a:t>between the models is prediction noise.</a:t>
            </a:r>
          </a:p>
          <a:p/>
          <a:p>
            <a:r>
              <a:t>The result: MoveNet 3.8 percent. YOLOv8 5.2. MediaPipe 6.0. Across all nine variants,</a:t>
            </a:r>
          </a:p>
          <a:p>
            <a:r>
              <a:t>the **whole MoveNet family takes the top three** — so this stability comes from the</a:t>
            </a:r>
          </a:p>
          <a:p>
            <a:r>
              <a:t>architecture itself, not from any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four: CPU speed. [Scatter] This is the accuracy-speed landscape of all nine</a:t>
            </a:r>
          </a:p>
          <a:p>
            <a:r>
              <a:t>variants. Down and right is better. Among the main models, MoveNet leads with about</a:t>
            </a:r>
          </a:p>
          <a:p>
            <a:r>
              <a:t>28 frames per second. YOLOv8: 19. MediaPipe: 15. If you only need speed, MoveNet</a:t>
            </a:r>
          </a:p>
          <a:p>
            <a:r>
              <a:t>SinglePose Lightning reaches 100 FPS. The bigger variants pay a real price: MediaPipe</a:t>
            </a:r>
          </a:p>
          <a:p>
            <a:r>
              <a:t>Heavy and YOLOv8 Medium reach better accuracy, but at 6 and 5 FPS — below real time.</a:t>
            </a:r>
          </a:p>
          <a:p/>
          <a:p>
            <a:r>
              <a:t>[Pause. Langsam:] **At this point, MoveNet leads in all four dimensions: accuracy,</a:t>
            </a:r>
          </a:p>
          <a:p>
            <a:r>
              <a:t>viewpoint, stability, speed. The remaining two dimensions change that picture.**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five: how often does a model deliver the **complete** 12-joint skeleton?</a:t>
            </a:r>
          </a:p>
          <a:p>
            <a:r>
              <a:t>Here, the order flips. YOLOv8: 79 percent of frames. MediaPipe: 55. MoveNet — the</a:t>
            </a:r>
          </a:p>
          <a:p>
            <a:r>
              <a:t>accuracy leader — only 38. If your application needs every joint in every frame, the</a:t>
            </a:r>
          </a:p>
          <a:p>
            <a:r>
              <a:t>winner just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 six: other people in the frame. This question has two very different</a:t>
            </a:r>
          </a:p>
          <a:p>
            <a:r>
              <a:t>answers, so I analyzed it in two parts. [links] First, the broad view: in all frames</a:t>
            </a:r>
          </a:p>
          <a:p>
            <a:r>
              <a:t>where a second person is somewhere visible, accuracy barely changes — just having</a:t>
            </a:r>
          </a:p>
          <a:p>
            <a:r>
              <a:t>another person in the frame is not a problem. [rechts] But five recordings are</a:t>
            </a:r>
          </a:p>
          <a:p>
            <a:r>
              <a:t>different: there, the therapist stands prominently in the picture — the situation I</a:t>
            </a:r>
          </a:p>
          <a:p>
            <a:r>
              <a:t>showed on the benchmark slide. In this **coach** scenario we see catastrophic</a:t>
            </a:r>
          </a:p>
          <a:p>
            <a:r>
              <a:t>failures: the model switches to the wrong person. These are two different regimes —</a:t>
            </a:r>
          </a:p>
          <a:p>
            <a:r>
              <a:t>and if you average over both, you hide the real deployment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 one coach frame — the same moment, three models. [Panel b] MediaPipe</a:t>
            </a:r>
          </a:p>
          <a:p>
            <a:r>
              <a:t>finds only the patient. The therapist does not even appear. [Panel c] MoveNet detects</a:t>
            </a:r>
          </a:p>
          <a:p>
            <a:r>
              <a:t>**both** people — detection works — but its selection rule puts the box on the</a:t>
            </a:r>
          </a:p>
          <a:p>
            <a:r>
              <a:t>**therapist**. That is a selection failure, not a detection failure — this</a:t>
            </a:r>
          </a:p>
          <a:p>
            <a:r>
              <a:t>distinction matters. [Panel d] YOLOv8 detects three candidates — and still picks the</a:t>
            </a:r>
          </a:p>
          <a:p>
            <a:r>
              <a:t>patient correctly.</a:t>
            </a:r>
          </a:p>
          <a:p/>
          <a:p>
            <a:r>
              <a:t>One frame, three completely different behaviors. MediaPipe reports a second person in</a:t>
            </a:r>
          </a:p>
          <a:p>
            <a:r>
              <a:t>23 percent of coach frames. MoveNet: 16. YOLOv8: 62. And the catastrophic failure</a:t>
            </a:r>
          </a:p>
          <a:p>
            <a:r>
              <a:t>rates: 9, 14, and 14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point to one central finding of this thesis. The intuitive explanation</a:t>
            </a:r>
          </a:p>
          <a:p>
            <a:r>
              <a:t>would be: **models that detect the second person more often also fail more often.**</a:t>
            </a:r>
          </a:p>
          <a:p>
            <a:r>
              <a:t>The three pairwise comparisons put this to the test.</a:t>
            </a:r>
          </a:p>
          <a:p/>
          <a:p>
            <a:r>
              <a:t>[Zeile 1] MediaPipe versus YOLOv8: 62 percent versus 23 — more detections, more</a:t>
            </a:r>
          </a:p>
          <a:p>
            <a:r>
              <a:t>failures. This pair is **consistent** with the explanation.</a:t>
            </a:r>
          </a:p>
          <a:p/>
          <a:p>
            <a:r>
              <a:t>[Zeile 2] But MediaPipe versus MoveNet is not. MoveNet reports the second person in</a:t>
            </a:r>
          </a:p>
          <a:p>
            <a:r>
              <a:t>only 16 percent of frames — less than MediaPipe — so it should be safer. Instead, it</a:t>
            </a:r>
          </a:p>
          <a:p>
            <a:r>
              <a:t>fails **more**: 13.8 versus 9.1 percent. **Here the explanation fails.**</a:t>
            </a:r>
          </a:p>
          <a:p/>
          <a:p>
            <a:r>
              <a:t>[Zeile 3] And MoveNet versus YOLOv8 confirms this: four times more detections, yet</a:t>
            </a:r>
          </a:p>
          <a:p>
            <a:r>
              <a:t>nearly **identical** failure rates.</a:t>
            </a:r>
          </a:p>
          <a:p/>
          <a:p>
            <a:r>
              <a:t>The conclusion: **detection count alone does not explain coach robustness.** The</a:t>
            </a:r>
          </a:p>
          <a:p>
            <a:r>
              <a:t>mechanism must sit deeper — at the selection stage, in how candidates are kept and</a:t>
            </a:r>
          </a:p>
          <a:p>
            <a:r>
              <a:t>chosen. Since the models do not expose those internals, the thesis names the</a:t>
            </a:r>
          </a:p>
          <a:p>
            <a:r>
              <a:t>candidates and leaves the mechanism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more honest look at those five coach videos — they are not all equal. [Tabelle]</a:t>
            </a:r>
          </a:p>
          <a:p>
            <a:r>
              <a:t>In four of them, MediaPipe stays below 40 percent error, while the others fail. But</a:t>
            </a:r>
          </a:p>
          <a:p>
            <a:r>
              <a:t>one video — PM 010 — breaks **all three** models, including MediaPipe: over 65</a:t>
            </a:r>
          </a:p>
          <a:p>
            <a:r>
              <a:t>percent error everywhere.</a:t>
            </a:r>
          </a:p>
          <a:p/>
          <a:p>
            <a:r>
              <a:t>So: no selection strategy is perfect. MediaPipe is the most robust of the three — but</a:t>
            </a:r>
          </a:p>
          <a:p>
            <a:r>
              <a:t>not immune.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failure analysis completes the picture. I classified every failure frame into</a:t>
            </a:r>
          </a:p>
          <a:p>
            <a:r>
              <a:t>four categories — and each model is dominated by a **different** one. MediaPipe's</a:t>
            </a:r>
          </a:p>
          <a:p>
            <a:r>
              <a:t>dominant category is **Keypoint-Displacement** — confident misprediction: wrong</a:t>
            </a:r>
          </a:p>
          <a:p>
            <a:r>
              <a:t>keypoints, high confidence. MoveNet's is **Confidence-Collapse** — graceful</a:t>
            </a:r>
          </a:p>
          <a:p>
            <a:r>
              <a:t>degradation: it filters its own joints out instead of guessing. YOLOv8's is</a:t>
            </a:r>
          </a:p>
          <a:p>
            <a:r>
              <a:t>**Missing-Detection** — no person, no pose — and it has the largest failure count</a:t>
            </a:r>
          </a:p>
          <a:p>
            <a:r>
              <a:t>overall.</a:t>
            </a:r>
          </a:p>
          <a:p/>
          <a:p>
            <a:r>
              <a:t>So the pattern is: commit-then-predict. Graceful degradation. All-or-nothing. Each</a:t>
            </a:r>
          </a:p>
          <a:p>
            <a:r>
              <a:t>signature matches the design logic of its paradigm. I report this as an</a:t>
            </a:r>
          </a:p>
          <a:p>
            <a:r>
              <a:t>**observational** correspondence — with one model family per paradigm, I cannot</a:t>
            </a:r>
          </a:p>
          <a:p>
            <a:r>
              <a:t>separate architecture from training data. But as a hypothesis, it is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final check before the synthesis. REHAB24-6 was my main benchmark. But would a</a:t>
            </a:r>
          </a:p>
          <a:p>
            <a:r>
              <a:t>standard benchmark give the same answer? To test that, all nine variants also ran on</a:t>
            </a:r>
          </a:p>
          <a:p>
            <a:r>
              <a:t>COCO — as an auxiliary comparison, accuracy only.</a:t>
            </a:r>
          </a:p>
          <a:p/>
          <a:p>
            <a:r>
              <a:t>The answer: only partially. [Slopegraph] MoveNet MultiPose — the REHAB winner — drops</a:t>
            </a:r>
          </a:p>
          <a:p>
            <a:r>
              <a:t>to rank 4 on COCO. There, YOLOv8 Medium leads. MediaPipe drops sharply. The three</a:t>
            </a:r>
          </a:p>
          <a:p>
            <a:r>
              <a:t>main models are more stable: MoveNet stays first on both. MediaPipe and YOLOv8 swap</a:t>
            </a:r>
          </a:p>
          <a:p>
            <a:r>
              <a:t>places.</a:t>
            </a:r>
          </a:p>
          <a:p/>
          <a:p>
            <a:r>
              <a:t>One caveat. The two evaluations differ in the data — and in the protocol. On COCO</a:t>
            </a:r>
          </a:p>
          <a:p>
            <a:r>
              <a:t>there is no patient, so predictions are simply matched to the annotated person. That</a:t>
            </a:r>
          </a:p>
          <a:p>
            <a:r>
              <a:t>means I cannot say how much of the shift is the domain, and how much is the protocol.</a:t>
            </a:r>
          </a:p>
          <a:p>
            <a:r>
              <a:t>The careful conclusion: **rankings transfer only partially.** And that also means: a</a:t>
            </a:r>
          </a:p>
          <a:p>
            <a:r>
              <a:t>COCO leaderboard alone would not have found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**So — back to the original question: which model for home rehabilitation?**</a:t>
            </a:r>
          </a:p>
          <a:p/>
          <a:p>
            <a:r>
              <a:t>The honest answer of six dimensions: there is no single winner. There are three</a:t>
            </a:r>
          </a:p>
          <a:p>
            <a:r>
              <a:t>architectural profiles — the three columns mirror the three paradigms from the</a:t>
            </a:r>
          </a:p>
          <a:p>
            <a:r>
              <a:t>beginning of the talk. [Spalten] MediaPipe, the filtered top-down profile: safest</a:t>
            </a:r>
          </a:p>
          <a:p>
            <a:r>
              <a:t>around the coach, richest landmarks — but slower, and weak hips. MoveNet, the</a:t>
            </a:r>
          </a:p>
          <a:p>
            <a:r>
              <a:t>low-exposure bottom-up profile: best accuracy, stability, and speed — but the least</a:t>
            </a:r>
          </a:p>
          <a:p>
            <a:r>
              <a:t>complete skeletons. YOLOv8, the high-sensitivity one-stage profile: the most complete</a:t>
            </a:r>
          </a:p>
          <a:p>
            <a:r>
              <a:t>detections — but it sees other people most often, and it is the most</a:t>
            </a:r>
          </a:p>
          <a:p>
            <a:r>
              <a:t>viewpoint-sensitive.</a:t>
            </a:r>
          </a:p>
          <a:p/>
          <a:p>
            <a:r>
              <a:t>**Which model is right depends on which dimension your application cannot afford to</a:t>
            </a:r>
          </a:p>
          <a:p>
            <a:r>
              <a:t>lose.**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practical guidance: for body-joint analysis on CPU, **MoveNet MultiPose is the</a:t>
            </a:r>
          </a:p>
          <a:p>
            <a:r>
              <a:t>default choice.** If you need the complete skeleton, take YOLOv8. If coach robustness</a:t>
            </a:r>
          </a:p>
          <a:p>
            <a:r>
              <a:t>or the richer landmarks matter, take MediaPipe. If only speed counts, MoveNet</a:t>
            </a:r>
          </a:p>
          <a:p>
            <a:r>
              <a:t>SinglePose Lightning runs at 100 FPS.</a:t>
            </a:r>
          </a:p>
          <a:p/>
          <a:p>
            <a:r>
              <a:t>And one insight beyond the model choice: guide the patient to a frontal camera</a:t>
            </a:r>
          </a:p>
          <a:p>
            <a:r>
              <a:t>position, watch for second persons, and warn when predictions get unstable. **These</a:t>
            </a:r>
          </a:p>
          <a:p>
            <a:r>
              <a:t>deployment decisions matter as much as the model itself.**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 course, these results have clear boundaries. And each boundary points to a next</a:t>
            </a:r>
          </a:p>
          <a:p>
            <a:r>
              <a:t>step.</a:t>
            </a:r>
          </a:p>
          <a:p/>
          <a:p>
            <a:r>
              <a:t>The most important one: my subjects were ten healthy adults, in motion-capture suits.</a:t>
            </a:r>
          </a:p>
          <a:p>
            <a:r>
              <a:t>Real patients look different and move differently. They are older. Different body</a:t>
            </a:r>
          </a:p>
          <a:p>
            <a:r>
              <a:t>shapes. Everyday clothing. Sometimes a walking aid. And compensatory movements. All</a:t>
            </a:r>
          </a:p>
          <a:p>
            <a:r>
              <a:t>of that can shift pose accuracy itself. So the first item of future work is</a:t>
            </a:r>
          </a:p>
          <a:p>
            <a:r>
              <a:t>validation with real patients.</a:t>
            </a:r>
          </a:p>
          <a:p/>
          <a:p>
            <a:r>
              <a:t>Second: I evaluated raw outputs, frame by frame. That is an upper bound on failures —</a:t>
            </a:r>
          </a:p>
          <a:p>
            <a:r>
              <a:t>a real system with smoothing would only look better. The follow-up: apply the same</a:t>
            </a:r>
          </a:p>
          <a:p>
            <a:r>
              <a:t>smoothing to all models. Third: the COCO comparison used a different protocol — a</a:t>
            </a:r>
          </a:p>
          <a:p>
            <a:r>
              <a:t>standardized protocol would sharpen it. And fourth: this is 2D. Real assessment</a:t>
            </a:r>
          </a:p>
          <a:p>
            <a:r>
              <a:t>ultimately needs 3D joint angles.</a:t>
            </a:r>
          </a:p>
          <a:p/>
          <a:p>
            <a:r>
              <a:t>**These are not oversights. They are scope decisions — and each one defines the next</a:t>
            </a:r>
          </a:p>
          <a:p>
            <a:r>
              <a:t>experiment.**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findings to take home. **First:** on a rehabilitation benchmark with</a:t>
            </a:r>
          </a:p>
          <a:p>
            <a:r>
              <a:t>motion-capture ground truth, MoveNet MultiPose is the strongest CPU default — most</a:t>
            </a:r>
          </a:p>
          <a:p>
            <a:r>
              <a:t>accurate, most stable, fastest of the main models. **Second:** the three models do</a:t>
            </a:r>
          </a:p>
          <a:p>
            <a:r>
              <a:t>not form a ranking. They form three architectural profiles — detection count does not</a:t>
            </a:r>
          </a:p>
          <a:p>
            <a:r>
              <a:t>explain coach robustness, and each architecture fails in its own characteristic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**So — can you trust a mobile pose estimator in a living room? Yes. But which one</a:t>
            </a:r>
          </a:p>
          <a:p>
            <a:r>
              <a:t>depends on what your application cannot afford to lose. MoveNet MultiPose is the</a:t>
            </a:r>
          </a:p>
          <a:p>
            <a:r>
              <a:t>default. The three architectures fail in three different ways — and knowing those</a:t>
            </a:r>
          </a:p>
          <a:p>
            <a:r>
              <a:t>ways is as valuable as any ranking. The next step toward the clinic is validation on</a:t>
            </a:r>
          </a:p>
          <a:p>
            <a:r>
              <a:t>real patients. Thank you.**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</a:t>
            </a:r>
          </a:p>
        </p:txBody>
      </p:sp>
      <p:pic>
        <p:nvPicPr>
          <p:cNvPr id="3" name="Picture 2" descr="Logo_Bo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F3864"/>
                </a:solidFill>
                <a:latin typeface="Calibri"/>
              </a:rPr>
              <a:t>A Holistic Evaluation of 2D Mobile Pose Estimation Models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F3864"/>
                </a:solidFill>
                <a:latin typeface="Calibri"/>
              </a:rPr>
              <a:t>for Home-Based Rehabilitation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Bachelor Thesis Defense — Eren Demir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777777"/>
                </a:solidFill>
                <a:latin typeface="Calibri"/>
              </a:rPr>
              <a:t>Supervisor: Lars Doorenbos   ·   Second examiner: Prof. Dr. Jürgen Gall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777777"/>
                </a:solidFill>
                <a:latin typeface="Calibri"/>
              </a:rPr>
              <a:t>University of Bonn — Institute of Computer Science, Computer Vision Group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777777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Home rehabilitation fails without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Adherence to home exercise programs is poor (Jack et al. 2010)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Non-adherence prolongs recovery and raises costs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A single RGB camera + pose estimation = markerless exercise monitoring — no markers, no suits, no lab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Open question: which mobile model can carry such a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333333"/>
                </a:solidFill>
                <a:latin typeface="Calibri"/>
              </a:rPr>
              <a:t>Patient exercises at home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52560" y="2697480"/>
            <a:ext cx="0" cy="50292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320040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333333"/>
                </a:solidFill>
                <a:latin typeface="Calibri"/>
              </a:rPr>
              <a:t>Smartphone camera + pose estimation 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52560" y="4069080"/>
            <a:ext cx="0" cy="50292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457200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333333"/>
                </a:solidFill>
                <a:latin typeface="Calibri"/>
              </a:rPr>
              <a:t>Exercise feedback &amp; progress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Four deployment constraints that standard benchmarks do not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Camera positioning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Patients rarely face the camera frontally — oblique and lateral views, self-occlusion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Multi-person interference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Family members or a therapist enter the frame — the target subject must be retained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Temporal stability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Real-time video feedback needs stable predictions — jitter ruins usability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38328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Resource constraints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No GPU at home — usable throughput on CPU is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COCO and MPII do not combine these conditions  →  the comparison has to be made on rehabilitation-style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Five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9144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72184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How accurate and complete are the models on rehabilitation data with MoCap ground truth?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50008"/>
            <a:ext cx="9144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4872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How temporally stable are their predictions?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82696"/>
            <a:ext cx="9144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How robust are they under suboptimal conditions — body orientation and multi-person interference?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15384"/>
            <a:ext cx="9144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702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How far do rankings transfer to a standard benchmark (COCO)?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48072"/>
            <a:ext cx="9144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202936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What practical trade-offs and recommendations follow for deployment?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Three models, three architectural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Top-down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8528"/>
            <a:ext cx="3657600" cy="32278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600" b="1">
                <a:solidFill>
                  <a:srgbClr val="2E7D32"/>
                </a:solidFill>
                <a:latin typeface="Calibri"/>
              </a:rPr>
              <a:t>MediaPipe Pose (BlazePose)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detect person → crop → estimate pose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Most precise per person (full-res crop)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Cost grows with person count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Depends on the upstream detector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33 native landmarks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Bottom-up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38528"/>
            <a:ext cx="3657600" cy="32278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</a:rPr>
              <a:t>MoveNet (MultiPose)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one full-image pass → keypoints grouped via person centers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Cost independent of person count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Grouping is the weak spot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17 COCO keypoints + 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37160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One-stage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38528"/>
            <a:ext cx="3657600" cy="32278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600" b="1">
                <a:solidFill>
                  <a:srgbClr val="1565C0"/>
                </a:solidFill>
                <a:latin typeface="Calibri"/>
              </a:rPr>
              <a:t>YOLOv8-Pose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object detector with a pose head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Box + 17 keypoints in one shot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Best speed integration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No high-resolution per-person zoom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77777"/>
                </a:solidFill>
                <a:latin typeface="Calibri"/>
              </a:rPr>
              <a:t>Selection criteria: CPU real-time capability · mature deployment ecosystem · paradigm coverage    (+ 6 family variants)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REHAB24-6: a rehabilitation-oriented proxy benchmark</a:t>
            </a:r>
          </a:p>
        </p:txBody>
      </p:sp>
      <p:pic>
        <p:nvPicPr>
          <p:cNvPr id="4" name="Picture 3" descr="validation_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1622"/>
            <a:ext cx="6675120" cy="3754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3716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10 healthy adults (6 m / 4 f, age 25–50)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6 physiotherapist-guided exercises, 1,072 repetitions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 synchronized RGB views (c17 frontal, c18 lateral)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Ground truth: 41-marker MoCap → 26-joint skeleton → projected to 2D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63 recordings → 126 camera-view sequences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E7D32"/>
                </a:solidFill>
                <a:latin typeface="Calibri"/>
              </a:rPr>
              <a:t>Green = 12 evaluated joints (shared skeleton)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A proxy testbed for rehabilitation-style movement analysis — not clinical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A fixed evaluation protocol isolates the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0">
                <a:solidFill>
                  <a:srgbClr val="333333"/>
                </a:solidFill>
                <a:latin typeface="Calibri"/>
              </a:rPr>
              <a:t>Video</a:t>
            </a:r>
          </a:p>
          <a:p>
            <a:pPr algn="ctr"/>
            <a:r>
              <a:rPr sz="1150" b="0">
                <a:solidFill>
                  <a:srgbClr val="777777"/>
                </a:solidFill>
                <a:latin typeface="Calibri"/>
              </a:rPr>
              <a:t>(every 3rd frame, 10 Hz)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240280"/>
            <a:ext cx="164592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67712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333333"/>
                </a:solidFill>
                <a:latin typeface="Calibri"/>
              </a:rPr>
              <a:t>Frame-independent inference</a:t>
            </a:r>
          </a:p>
          <a:p>
            <a:pPr algn="ctr"/>
            <a:r>
              <a:rPr sz="1150" b="0">
                <a:solidFill>
                  <a:srgbClr val="777777"/>
                </a:solidFill>
                <a:latin typeface="Calibri"/>
              </a:rPr>
              <a:t>(no tracking, no smoothing)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2" y="2240280"/>
            <a:ext cx="164592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15384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0">
                <a:solidFill>
                  <a:srgbClr val="333333"/>
                </a:solidFill>
                <a:latin typeface="Calibri"/>
              </a:rPr>
              <a:t>Person selection</a:t>
            </a:r>
          </a:p>
          <a:p>
            <a:pPr algn="ctr"/>
            <a:r>
              <a:rPr sz="1150" b="0">
                <a:solidFill>
                  <a:srgbClr val="777777"/>
                </a:solidFill>
                <a:latin typeface="Calibri"/>
              </a:rPr>
              <a:t>(largest instance)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240280"/>
            <a:ext cx="164592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63056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0">
                <a:solidFill>
                  <a:srgbClr val="333333"/>
                </a:solidFill>
                <a:latin typeface="Calibri"/>
              </a:rPr>
              <a:t>12-joint mapping</a:t>
            </a:r>
          </a:p>
          <a:p>
            <a:pPr algn="ctr"/>
            <a:r>
              <a:rPr sz="1150" b="0">
                <a:solidFill>
                  <a:srgbClr val="777777"/>
                </a:solidFill>
                <a:latin typeface="Calibri"/>
              </a:rPr>
              <a:t>(33 / 17 / 26 → 12)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46136" y="2240280"/>
            <a:ext cx="164592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8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0">
                <a:solidFill>
                  <a:srgbClr val="333333"/>
                </a:solidFill>
                <a:latin typeface="Calibri"/>
              </a:rPr>
              <a:t>Joint filter</a:t>
            </a:r>
          </a:p>
          <a:p>
            <a:pPr algn="ctr"/>
            <a:r>
              <a:rPr sz="1150" b="0">
                <a:solidFill>
                  <a:srgbClr val="777777"/>
                </a:solidFill>
                <a:latin typeface="Calibri"/>
              </a:rPr>
              <a:t>(confidence ≥ 0.5)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93808" y="2240280"/>
            <a:ext cx="164592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55448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0">
                <a:solidFill>
                  <a:srgbClr val="333333"/>
                </a:solidFill>
                <a:latin typeface="Calibri"/>
              </a:rPr>
              <a:t>NMPJPE + displacement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NMPJPE  =  mean joint error / ground-truth torso length  (×100%)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77777"/>
                </a:solidFill>
                <a:latin typeface="Calibri"/>
              </a:rPr>
              <a:t>scale-free — comparable across subjects, camera distances, resolutions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Why frame-independent?  We evaluate models, not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Frames lie about sample size — honest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367,000 frames — but frames of one person are not independent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1984248"/>
            <a:ext cx="320040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37960" y="1508760"/>
            <a:ext cx="5166360" cy="9601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aggregate to 10 subject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24328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Only ten data points per 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3099816"/>
            <a:ext cx="320040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37960" y="2624328"/>
            <a:ext cx="5166360" cy="9601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exact permutation test: all 1024 sign flips, no distribution assumptions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39896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Three pairwise comparisons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4215384"/>
            <a:ext cx="320040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37960" y="3739896"/>
            <a:ext cx="5166360" cy="9601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Holm correction controls false alarms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55464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Significant ≠ large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0" y="5330952"/>
            <a:ext cx="320040" cy="0"/>
          </a:xfrm>
          <a:prstGeom prst="bentConnector3">
            <a:avLst/>
          </a:prstGeom>
          <a:ln w="28575"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4855464"/>
            <a:ext cx="5166360" cy="9601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bootstrap confidence intervals for effect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+ auxiliary COCO val2017 comparison — different protocol, kept descriptive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1 OF 6 — BODY-JOINT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MoveNet is the most accurate — significant in all 10 subject clusters</a:t>
            </a:r>
          </a:p>
        </p:txBody>
      </p:sp>
      <p:pic>
        <p:nvPicPr>
          <p:cNvPr id="5" name="Picture 4" descr="fig_accurac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96907"/>
            <a:ext cx="6949440" cy="4504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Mean NMPJPE (valid subset):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62828"/>
                </a:solidFill>
                <a:latin typeface="Calibri"/>
              </a:rPr>
              <a:t>MoveNet      10.52%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E7D32"/>
                </a:solidFill>
                <a:latin typeface="Calibri"/>
              </a:rPr>
              <a:t>MediaPipe   12.53%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1565C0"/>
                </a:solidFill>
                <a:latin typeface="Calibri"/>
              </a:rPr>
              <a:t>YOLOv8       12.77%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All pairwise differences survive Holm correction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MoveNet wins in all 10 clusters — p = 2/1024, the exact-test minimum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First on all 6 exercises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1 OF 6 — ACCURACY BY BODY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The errors are not uniform — MediaPipe's hips stand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60020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MediaPipe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MoveNet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YOLOv8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6712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Shoulders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6712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8.8%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6712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10.3%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6712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10.2%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3405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Elbows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734056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11.2%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34056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10.0%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34056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13.1%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0098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Wrists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300984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12.0%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300984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11.8%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00984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16.3%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6791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Hips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3867912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2E7D32"/>
                </a:solidFill>
                <a:latin typeface="Calibri"/>
              </a:rPr>
              <a:t>16.7%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867912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C62828"/>
                </a:solidFill>
                <a:latin typeface="Calibri"/>
              </a:rPr>
              <a:t>11.3%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67912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14.6%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Knees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43484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9.9%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43484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7.8%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434840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9.9%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0176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Ankles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50017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14.6%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50017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11.4%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001768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12.6%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69164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MediaPipe wins only the shoulders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</a:rPr>
              <a:t>MoveNet leads everywhere else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Hips: 16.7% vs. 11.3% — a concentrated problem, not general weakness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Excluding hips shrinks the MediaPipe–MoveNet gap by ~40% (2.0 → 1.2 pp)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Consistent with a landmark-definition mismatch — indirect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2 OF 6 — VIEWPOINT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All models degrade on lateral views — MoveNet the least</a:t>
            </a:r>
          </a:p>
        </p:txBody>
      </p:sp>
      <p:pic>
        <p:nvPicPr>
          <p:cNvPr id="5" name="Picture 4" descr="fig_rotation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89634"/>
            <a:ext cx="6766560" cy="4518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Frontal (0–20°) → lateral (60–90°):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Calibri"/>
              </a:rPr>
              <a:t>MoveNet      9.75% → 11.49%   (+17.8%)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MediaPipe   11.28% → 14.38%   (+27.5%)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565C0"/>
                </a:solidFill>
                <a:latin typeface="Calibri"/>
              </a:rPr>
              <a:t>YOLOv8      11.14% → 14.66%   (+31.7%)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Orientation from 3D MoCap shoulders — no circularity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Fixed camera geometry, bimodal viewpoints — a viewpoint comparison, not a dense rotation study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3 OF 6 — TEMPORAL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MoveNet is also the most stable — the whole family leads</a:t>
            </a:r>
          </a:p>
        </p:txBody>
      </p:sp>
      <p:pic>
        <p:nvPicPr>
          <p:cNvPr id="5" name="Picture 4" descr="fig_prediction_displaceme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69857"/>
            <a:ext cx="6949439" cy="4358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Frame-to-frame displacement (% torso):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62828"/>
                </a:solidFill>
                <a:latin typeface="Calibri"/>
              </a:rPr>
              <a:t>MoveNet      3.81%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1565C0"/>
                </a:solidFill>
                <a:latin typeface="Calibri"/>
              </a:rPr>
              <a:t>YOLOv8       5.22%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E7D32"/>
                </a:solidFill>
                <a:latin typeface="Calibri"/>
              </a:rPr>
              <a:t>MediaPipe   6.03%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Across all nine variants, the MoveNet family takes the top three (3.31 / 3.61 / 3.81)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Raw, unsmoothed outputs — true motion is identical across models, so differences isolate prediction noise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4 OF 6 — CPU INFERENCE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MoveNet leads on speed — family accuracy gains cost real latency</a:t>
            </a:r>
          </a:p>
        </p:txBody>
      </p:sp>
      <p:pic>
        <p:nvPicPr>
          <p:cNvPr id="5" name="Picture 4" descr="fig_speed_accurac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4637"/>
            <a:ext cx="7498079" cy="46802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CPU throughput (main configs):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62828"/>
                </a:solidFill>
                <a:latin typeface="Calibri"/>
              </a:rPr>
              <a:t>MoveNet MultiPose   27.7 FPS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565C0"/>
                </a:solidFill>
                <a:latin typeface="Calibri"/>
              </a:rPr>
              <a:t>YOLOv8 Nano            18.9 FPS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  <a:latin typeface="Calibri"/>
              </a:rPr>
              <a:t>MediaPipe Full          14.7 FPS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Fastest: MoveNet SP Lightning — 100.6 FPS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Accuracy leaders pay: MediaPipe Heavy 6.0 · YOLOv8 Medium 4.6 FPS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5 OF 6 — DETECTION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YOLOv8 delivers the complete skeleton most often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YOLOv8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828800"/>
            <a:ext cx="6509613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78493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79.1%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MediaPipe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743200"/>
            <a:ext cx="4534509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3389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55.1%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Calibri"/>
              </a:rPr>
              <a:t>MoveNet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657600"/>
            <a:ext cx="3143707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2587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38.2%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777777"/>
                </a:solidFill>
                <a:latin typeface="Calibri"/>
              </a:rPr>
              <a:t>Share of frames with all 12 evaluated joints after confidence filtering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First dimension with a different winner — the profiles start to separate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77777"/>
                </a:solidFill>
                <a:latin typeface="Calibri"/>
              </a:rPr>
              <a:t>DIMENSION 6 OF 6 — MULTI-PERSON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A second person in frame is harmless — until it is the coach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Dataset-wide multi-person subset</a:t>
            </a:r>
          </a:p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(metadata severity ≥ 2, ~10,000 frames per model)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Accuracy barely changes:</a:t>
            </a:r>
          </a:p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MediaPipe +1.2%   ·   MoveNet −5.0%   ·   YOLOv8 −4.4%</a:t>
            </a:r>
          </a:p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(composition effects — not causal)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C62828"/>
                </a:solidFill>
                <a:latin typeface="Calibri"/>
              </a:rPr>
              <a:t>Coach extreme case</a:t>
            </a:r>
          </a:p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(5 sequences with a persistently visible therapist)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Catastrophic person switches appear —</a:t>
            </a:r>
          </a:p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outlier rates 9.1% / 13.8% / 13.9%</a:t>
            </a:r>
          </a:p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(MediaPipe / MoveNet / YOLOv8)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Multi-person behavior must be decomposed into two regimes — averaging them away hides the real deployment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One frame, three behaviors</a:t>
            </a:r>
          </a:p>
        </p:txBody>
      </p:sp>
      <p:pic>
        <p:nvPicPr>
          <p:cNvPr id="4" name="Picture 3" descr="coach_det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40" y="123444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2+ persons detected: MediaPipe 23% · MoveNet 16% · YOLOv8 62%      |      coach outlier rate: 9.1% · 13.8% · 13.9%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The obvious explanation fails — in three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MediaPipe vs. YOLOv8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MediaPipe reports a 2nd person in 23% of frames, YOLOv8 in 62% — more detections, more failures</a:t>
            </a:r>
          </a:p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consistent with a detection-level explanation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MediaPipe vs. MoveNet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83464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MoveNet detects the 2nd person LESS often (16% &lt; 23%) yet fails MORE (13.8% &gt; 9.1%)</a:t>
            </a:r>
          </a:p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breaks the explanation — mechanism beyond detection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51960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MoveNet vs. YOLOv8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25196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4× difference in 2nd-person detections (16% vs. 62%)</a:t>
            </a:r>
          </a:p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nearly identical failure rates (13.8% vs. 13.9%)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Detection count alone does not explain coach robustness — the residual mechanism sits at the selection stage and is left open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One video breaks all three — no selection strategy is perfect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Coach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333333"/>
                </a:solidFill>
                <a:latin typeface="Calibri"/>
              </a:rPr>
              <a:t>MediaPipe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333333"/>
                </a:solidFill>
                <a:latin typeface="Calibri"/>
              </a:rPr>
              <a:t>MoveNet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333333"/>
                </a:solidFill>
                <a:latin typeface="Calibri"/>
              </a:rPr>
              <a:t>YOLOv8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67712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PM_010-c17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67712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E7D32"/>
                </a:solidFill>
                <a:latin typeface="Calibri"/>
              </a:rPr>
              <a:t>81.9%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267712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C62828"/>
                </a:solidFill>
                <a:latin typeface="Calibri"/>
              </a:rPr>
              <a:t>70.7%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67712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565C0"/>
                </a:solidFill>
                <a:latin typeface="Calibri"/>
              </a:rPr>
              <a:t>69.9%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9504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PM_011-c17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889504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2E7D32"/>
                </a:solidFill>
                <a:latin typeface="Calibri"/>
              </a:rPr>
              <a:t>38.0%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889504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C62828"/>
                </a:solidFill>
                <a:latin typeface="Calibri"/>
              </a:rPr>
              <a:t>59.7%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889504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1565C0"/>
                </a:solidFill>
                <a:latin typeface="Calibri"/>
              </a:rPr>
              <a:t>66.2%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11296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PM_108-c17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511296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2E7D32"/>
                </a:solidFill>
                <a:latin typeface="Calibri"/>
              </a:rPr>
              <a:t>17.2%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511296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C62828"/>
                </a:solidFill>
                <a:latin typeface="Calibri"/>
              </a:rPr>
              <a:t>46.2%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511296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1565C0"/>
                </a:solidFill>
                <a:latin typeface="Calibri"/>
              </a:rPr>
              <a:t>51.1%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33088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PM_119-c17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133088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2E7D32"/>
                </a:solidFill>
                <a:latin typeface="Calibri"/>
              </a:rPr>
              <a:t>24.1%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33088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C62828"/>
                </a:solidFill>
                <a:latin typeface="Calibri"/>
              </a:rPr>
              <a:t>74.0%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133088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1565C0"/>
                </a:solidFill>
                <a:latin typeface="Calibri"/>
              </a:rPr>
              <a:t>73.0%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265176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PM_121-c17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75488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2E7D32"/>
                </a:solidFill>
                <a:latin typeface="Calibri"/>
              </a:rPr>
              <a:t>30.9%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75488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C62828"/>
                </a:solidFill>
                <a:latin typeface="Calibri"/>
              </a:rPr>
              <a:t>60.3%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754880"/>
            <a:ext cx="2011680" cy="6217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0">
                <a:solidFill>
                  <a:srgbClr val="1565C0"/>
                </a:solidFill>
                <a:latin typeface="Calibri"/>
              </a:rPr>
              <a:t>75.3%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17373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Mean coach NMPJPE per video (before outlier cut)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In four of five videos, MediaPipe stays below 40% — but PM_010 breaks all three models. MediaPipe is the most robust — not immune.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Each architecture fails in its own way</a:t>
            </a:r>
          </a:p>
        </p:txBody>
      </p:sp>
      <p:pic>
        <p:nvPicPr>
          <p:cNvPr id="4" name="Picture 3" descr="fig_failure_mod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27632"/>
            <a:ext cx="6766560" cy="4059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MediaPipe → Keypoint-Displacement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confident misprediction — 69.6% of 1,583 failures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62828"/>
                </a:solidFill>
                <a:latin typeface="Calibri"/>
              </a:rPr>
              <a:t>MoveNet → Confidence-Collapse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graceful degradation — 51.4% of 1,875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565C0"/>
                </a:solidFill>
                <a:latin typeface="Calibri"/>
              </a:rPr>
              <a:t>YOLOv8 → Missing-Detection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no detection at all — 63.8% of 5,610 (≈20× MediaPipe's no-detection rate)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Consistent with each paradigm's design logic — observational, one family per paradigm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Rankings only partially transfer to COCO</a:t>
            </a:r>
          </a:p>
        </p:txBody>
      </p:sp>
      <p:pic>
        <p:nvPicPr>
          <p:cNvPr id="4" name="Picture 3" descr="fig_cross_dataset_slope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5" y="1280160"/>
            <a:ext cx="6577909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55448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REHAB #1 MoveNet → COCO #4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COCO #1: YOLOv8 Medium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MediaPipe drops sharply (5 → 8)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Main models: MoveNet first on both; MediaPipe &amp; YOLOv8 swap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Different protocol → limited transferability, not benchmark invalidity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Three architectural profiles — not one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MediaPipe — filtered top-down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84248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Lowest coach failure rate (9.1%)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33 native landmarks, simple API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— but slower (14.7 FPS) and weakest hips (16.7%)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MoveNet — low-exposure bottom-up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84248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Best accuracy (10.5%)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Lowest displacement (3.8%)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Highest main-model FPS (27.7)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— but lowest completeness (38%) and not the safest in coach scenes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417320"/>
            <a:ext cx="3657600" cy="566928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YOLOv8 — high-sensitivity one-stage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84248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Most complete detections (79%)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Most stable across datasets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/>
            <a:r>
              <a:rPr sz="1450" b="0">
                <a:solidFill>
                  <a:srgbClr val="333333"/>
                </a:solidFill>
                <a:latin typeface="Calibri"/>
              </a:rPr>
              <a:t>— but detects other people most often (62%), weakest viewpoint robustness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Which model is right depends on which dimension your application cannot afford to lose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Recommendations for CPU-based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Default (body joints + CPU)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41732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MoveNet MultiPose — accuracy + stability + throughput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41448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Completeness is 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441448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YOLOv8 — full 12-joint skeleton most often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65576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Coach robustness / richer landmarks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465576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MediaPipe — lowest catastrophic coach rate, 33 landmarks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Maximum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4489704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MoveNet SP Lightning — 100 FPS, if accuracy loss is acceptable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333333"/>
                </a:solidFill>
                <a:latin typeface="Calibri"/>
              </a:rPr>
              <a:t>Deployment guidance matters as much as model choice: frontal camera positioning · interference monitoring · quality warnings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Limitations are scope decisions — each with a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Healthy volunteers, 10 subject clusters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508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→ validation on real patient cohorts (next step #1)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8775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Frame-independent raw outputs (upper bound)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58775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→ uniform temporal post-processing applied to all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6674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COCO comparison under a different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66674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→ standardized cross-dataset evaluation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4573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2D joint localization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74573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→ 3D joint angles and movement quality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1 — MoveNet MultiPose is the strongest CPU default for body-joint rehabilitation analysis</a:t>
            </a:r>
          </a:p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lowest subject-cluster error, lowest displacement, highest main-model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6324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2 — The three models form three architectural profiles, not one ranking</a:t>
            </a:r>
          </a:p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detection count alone does not explain coach-scene robustness; each architecture carries a distinct failure 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The most important next step toward clinical use: validation on real patient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25</a:t>
            </a:r>
          </a:p>
        </p:txBody>
      </p:sp>
      <p:pic>
        <p:nvPicPr>
          <p:cNvPr id="3" name="Picture 2" descr="Logo_Bo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43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F3864"/>
                </a:solidFill>
                <a:latin typeface="Calibri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777777"/>
                </a:solidFill>
                <a:latin typeface="Calibri"/>
              </a:rPr>
              <a:t>A Holistic Evaluation of 2D Mobile Pose Estimation Models for Home-Based Rehabilitation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Eren Demir · University of Bonn · July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statistical analysis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Aggregation: median NMPJPE per camera-view sequence (robust to residual outliers) → mean of medians per subject cluster (person_id) → 10 values per model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Paired sign-flip permutation test: under H₀ each cluster difference's sign is a coin flip → enumerate all 2¹⁰ = 1024 sign assignments → exact two-sided p-value; minimum attainable p = 2/1024 ≈ 0.002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Holm correction: sort p-values ascending, test against α/k, α/(k−1), … — same family-wise error control as Bonferroni, uniformly more power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Percentile bootstrap: resample the 10 cluster differences with replacement, 20,000×, take the 2.5/97.5 percentiles → effect size + uncertainty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Results: MP−MoveNet +1.01pp [0.62, 1.42], p_Holm=.0059 · MoveNet−YOLO −1.50pp [−1.71, −1.27], p_Holm=.0059 · MP−YOLO −0.49pp [−0.85, −0.12], p_Holm=.0352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Video-level sensitivity analysis: same paired test, Monte-Carlo sign sampling (2¹²⁶ not enumerable) — agrees with cluster level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NMPJPE definition and metric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NMPJPE = (1/N) Σ ‖pᵢ − gᵢ‖₂ / L_torso × 100%,   N = 12 evaluated joints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L_torso = distance between GT shoulder midpoint and GT hip midpoint (per frame)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Joints below confidence 0.5 are excluded per joint; frames keep their remaining valid joints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Why not the alternatives: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PCK — collapses error size into hit/miss around a threshold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OKS — needs COCO per-keypoint sigmas and segmentation-area scale (undefined for MoCap GT)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Pixel MPJPE — not comparable across subjects, distances, resolutions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NMPJPE keeps the full error distribution, is scale-free, and reads as a fraction of body size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viewpoint annotation and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θ_raw = atan2(|Δz|, |Δx|) over the 3D ground-truth shoulder vector — folded to [0°, 90°]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From ground truth, not predictions → no circularity (model errors cannot distort the angle bins)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Camera-relative offset: θ_c17 = |θ_raw − 65°|, θ_c18 = 90° − θ_c17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65° calibrated empirically from 3 frontal reference recordings (PM_114, PM_122, PM_109); estimated uncertainty ±5° — REHAB24-6 publishes no full extrinsics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10° bins are wider than the ±5° uncertainty; the offset is global → any error shifts all models identically, the between-model comparison is invariant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Viewpoint distribution is strongly bimodal (40.8% frontal / 17.5% intermediate / 41.6% lateral) → interpreted as viewpoint sensitivity under fixed camera geometry, not a dense rotation study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keypoint mapping (33 / 17 / 26 → 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Joint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GT joint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COCO idx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MediaPipe idx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Shoulders L/R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7452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LeftArm / RightArm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7452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5 /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745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Elbows L/R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37744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LeftForeArm / RightForeArm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37744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7 /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3774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13 / 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Wrists L/R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288036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LeftHand / RightHand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880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9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8803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15 /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Hips L/R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38328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LeftUpLeg / RightUpLeg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383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11 /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383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23 / 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Knees L/R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388620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LeftLeg / RightLeg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8862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13 / 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8862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25 / 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Ankles L/R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389120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LeftFoot / RightFoot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38912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15 / 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43891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27 / 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MoCap naming convention: a joint carries the name of the segment that STARTS at it — LeftArm = shoulder, LeftFoot = ankle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Facial landmarks excluded (no GT markers). Mapping validated visually by overlaying GT and predictions.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all nine variants (accuracy + CPU speed)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258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3258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Mean NMPJPE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3258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FPS (CPU)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7830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MoveNet MultiPose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7830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10.52%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830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27.7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402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YOLOv8 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240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10.86%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240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4.6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6974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YOLOv8 Small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6974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11.43%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6974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1546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MediaPipe Heavy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11.51%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1546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6.0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6118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MediaPipe Full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6118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12.53%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6118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14.7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0690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YOLOv8 Nano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40690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12.77%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0690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18.9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5262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MoveNet SP Thunder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526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13.33%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526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27.6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9834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MediaPipe 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49834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13.54%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9834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21.9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4406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MoveNet SP Lightning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54406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14.97%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54406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100.6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MultiPose &gt; SP variants: SP models expect a centered, frame-filling person — without intelligent cropping the subject is small in the input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COCO auxiliary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1,519 val2017 images with ≥1 annotated person having ≥6 labeled keypoints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Predicted instance matched to the GT person with the nearest torso center (works for all models — MediaPipe has no boxes; OKS matching would be circular)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Same 12 evaluated joints; only visible GT joints included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On REHAB24-6, no GT matching is used — the pipeline selects the most prominent person, as a deployed app would (deployment realism)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Because matching and visibility handling differ, COCO results are descriptive: a transferability check under a different protocol — deliberately no inferential claims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coach subset per video (mean NMPJPE)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371600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37160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MediaPipe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MoveNet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YOLOv8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938528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PM_010-c17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93852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81.9%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3852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70.7%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93852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69.9%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505456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PM_011-c17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50545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38.0%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0545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59.7%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0545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66.2%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72384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PM_108-c17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07238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17.2%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7238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46.2%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07238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51.1%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639312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PM_119-c17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63931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24.1%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3931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74.0%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63931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73.0%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4206240"/>
            <a:ext cx="256032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PM_121-c17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20624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2E7D32"/>
                </a:solidFill>
                <a:latin typeface="Calibri"/>
              </a:rPr>
              <a:t>30.9%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0624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C62828"/>
                </a:solidFill>
                <a:latin typeface="Calibri"/>
              </a:rPr>
              <a:t>60.3%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20624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565C0"/>
                </a:solidFill>
                <a:latin typeface="Calibri"/>
              </a:rPr>
              <a:t>75.3%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1206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PM_010 breaks all three models (&gt;65%) — no selection strategy is perfect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MediaPipe stays below 40% in the other four sequences. NMPJPE before the outlier cut (failure regime). Named limitation: n=5, descriptive only.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per-joint errors and the hip 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3258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3258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MediaPipe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MoveNet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258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E3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YOLOv8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82880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Shoulders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8288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8.76%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10.29%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10.21%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331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Elbows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3317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11.24%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10.00%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3317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13.08%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8346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Wrists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834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12.01%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11.84%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834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16.25%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3375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3375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16.72%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375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11.28%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3375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14.59%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38404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Knees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38404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9.92%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7.76%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8404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9.87%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434340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Ankles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4343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14.59%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343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11.41%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343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12.59%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9204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Excluding hips: MediaPipe 12.53% → 11.66%; gap to MoveNet shrinks 2.01pp → 1.21pp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77777"/>
                </a:solidFill>
                <a:latin typeface="Calibri"/>
              </a:rPr>
              <a:t>Error concentrated in one structurally specific region → consistent with a landmark-definition mismatch (BlazePose body model vs. MoCap skeleton) — indirect evidence; the index mapping itself is validated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77777"/>
                </a:solidFill>
                <a:latin typeface="Calibri"/>
              </a:rPr>
              <a:t>B9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  <a:latin typeface="Calibri"/>
              </a:rPr>
              <a:t>Backup: model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BlazePose (MediaPipe)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Two-stage detector–tracker; the paper describes the person detector as face-based (BlazeFace-derived) with alignment keypoints (mid-hip, scale, rotation). Training combines heatmap + regression supervision; inference is regression-only. 33 landmarks. IMAGE mode = detector runs every frame.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Calibri"/>
              </a:rPr>
              <a:t>MoveNet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MobileNetV2 + FPN backbone, CenterNet-style: 4 heads — person-center heatmap, keypoint regression field, keypoint heatmaps, local offsets. Decoding weights heatmap maxima by inverse distance to the regressed position. Lightning 192², Thunder 256², MultiPose up to 6 persons + boxes. Trained on COCO + Google-internal 'Active' set (yoga/fitness/dance — per TF blog).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YOLOv8-Pose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Anchor-free one-stage detector (C2f blocks, decoupled head) extended with a pose head: per detection box + 17 keypoints (x, y, conf) in one pass; OKS-based keypoint loss. Ultralytics PyTorch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